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Swerling 0</c:v>
                </c:pt>
              </c:strCache>
            </c:strRef>
          </c:tx>
          <c:spPr>
            <a:solidFill>
              <a:srgbClr val="00E5FF"/>
            </a:solidFill>
            <a:ln w="25400" cap="flat">
              <a:solidFill>
                <a:srgbClr val="00E5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E5FF"/>
              </a:solidFill>
              <a:ln w="9525" cap="flat">
                <a:solidFill>
                  <a:srgbClr val="00E5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-5</c:v>
                  </c:pt>
                  <c:pt idx="1">
                    <c:v>0</c:v>
                  </c:pt>
                  <c:pt idx="2">
                    <c:v>5</c:v>
                  </c:pt>
                  <c:pt idx="3">
                    <c:v>10</c:v>
                  </c:pt>
                  <c:pt idx="4">
                    <c:v>15</c:v>
                  </c:pt>
                  <c:pt idx="5">
                    <c:v>20</c:v>
                  </c:pt>
                  <c:pt idx="6">
                    <c:v>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0.05</c:v>
                </c:pt>
                <c:pt idx="1">
                  <c:v>0.12</c:v>
                </c:pt>
                <c:pt idx="2">
                  <c:v>0.35</c:v>
                </c:pt>
                <c:pt idx="3">
                  <c:v>0.72</c:v>
                </c:pt>
                <c:pt idx="4">
                  <c:v>0.92</c:v>
                </c:pt>
                <c:pt idx="5">
                  <c:v>0.97</c:v>
                </c:pt>
                <c:pt idx="6">
                  <c:v>0.99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Swerling I</c:v>
                </c:pt>
              </c:strCache>
            </c:strRef>
          </c:tx>
          <c:spPr>
            <a:solidFill>
              <a:srgbClr val="FFB300"/>
            </a:solidFill>
            <a:ln w="25400" cap="flat">
              <a:solidFill>
                <a:srgbClr val="FFB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300"/>
              </a:solidFill>
              <a:ln w="9525" cap="flat">
                <a:solidFill>
                  <a:srgbClr val="FFB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-5</c:v>
                  </c:pt>
                  <c:pt idx="1">
                    <c:v>0</c:v>
                  </c:pt>
                  <c:pt idx="2">
                    <c:v>5</c:v>
                  </c:pt>
                  <c:pt idx="3">
                    <c:v>10</c:v>
                  </c:pt>
                  <c:pt idx="4">
                    <c:v>15</c:v>
                  </c:pt>
                  <c:pt idx="5">
                    <c:v>20</c:v>
                  </c:pt>
                  <c:pt idx="6">
                    <c:v>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0.02</c:v>
                </c:pt>
                <c:pt idx="1">
                  <c:v>0.07</c:v>
                </c:pt>
                <c:pt idx="2">
                  <c:v>0.2</c:v>
                </c:pt>
                <c:pt idx="3">
                  <c:v>0.52</c:v>
                </c:pt>
                <c:pt idx="4">
                  <c:v>0.82</c:v>
                </c:pt>
                <c:pt idx="5">
                  <c:v>0.95</c:v>
                </c:pt>
                <c:pt idx="6">
                  <c:v>0.98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Swerling III</c:v>
                </c:pt>
              </c:strCache>
            </c:strRef>
          </c:tx>
          <c:spPr>
            <a:solidFill>
              <a:srgbClr val="26A69A"/>
            </a:solidFill>
            <a:ln w="25400" cap="flat">
              <a:solidFill>
                <a:srgbClr val="26A6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6A69A"/>
              </a:solidFill>
              <a:ln w="9525" cap="flat">
                <a:solidFill>
                  <a:srgbClr val="26A6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-5</c:v>
                  </c:pt>
                  <c:pt idx="1">
                    <c:v>0</c:v>
                  </c:pt>
                  <c:pt idx="2">
                    <c:v>5</c:v>
                  </c:pt>
                  <c:pt idx="3">
                    <c:v>10</c:v>
                  </c:pt>
                  <c:pt idx="4">
                    <c:v>15</c:v>
                  </c:pt>
                  <c:pt idx="5">
                    <c:v>20</c:v>
                  </c:pt>
                  <c:pt idx="6">
                    <c:v>25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0.01</c:v>
                </c:pt>
                <c:pt idx="1">
                  <c:v>0.04</c:v>
                </c:pt>
                <c:pt idx="2">
                  <c:v>0.12</c:v>
                </c:pt>
                <c:pt idx="3">
                  <c:v>0.38</c:v>
                </c:pt>
                <c:pt idx="4">
                  <c:v>0.7</c:v>
                </c:pt>
                <c:pt idx="5">
                  <c:v>0.9</c:v>
                </c:pt>
                <c:pt idx="6">
                  <c:v>0.96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081D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Utility U(α)</c:v>
                </c:pt>
              </c:strCache>
            </c:strRef>
          </c:tx>
          <c:spPr>
            <a:solidFill>
              <a:srgbClr val="FFB300"/>
            </a:solidFill>
            <a:ln w="31750" cap="flat">
              <a:solidFill>
                <a:srgbClr val="FFB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300"/>
              </a:solidFill>
              <a:ln w="9525" cap="flat">
                <a:solidFill>
                  <a:srgbClr val="FFB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0.05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0.88</c:v>
                </c:pt>
                <c:pt idx="1">
                  <c:v>0.84</c:v>
                </c:pt>
                <c:pt idx="2">
                  <c:v>0.77</c:v>
                </c:pt>
                <c:pt idx="3">
                  <c:v>0.7</c:v>
                </c:pt>
                <c:pt idx="4">
                  <c:v>0.61</c:v>
                </c:pt>
                <c:pt idx="5">
                  <c:v>0.52</c:v>
                </c:pt>
                <c:pt idx="6">
                  <c:v>0.4</c:v>
                </c:pt>
                <c:pt idx="7">
                  <c:v>0.28</c:v>
                </c:pt>
                <c:pt idx="8">
                  <c:v>0.15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81D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54864" cy="50520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201168"/>
            <a:ext cx="3200400" cy="219456"/>
          </a:xfrm>
          <a:prstGeom prst="rect">
            <a:avLst/>
          </a:prstGeom>
          <a:solidFill>
            <a:srgbClr val="0D336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0116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Information Technology, Pune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7160" y="475488"/>
            <a:ext cx="3200400" cy="201168"/>
          </a:xfrm>
          <a:prstGeom prst="rect">
            <a:avLst/>
          </a:prstGeom>
          <a:solidFill>
            <a:srgbClr val="081830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&amp; Communication Engineering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960120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Joint ISAC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37160" y="1627632"/>
            <a:ext cx="8869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Design for 6G Networks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37160" y="2286000"/>
            <a:ext cx="59436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23957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Sensing &amp; Communication  ·  OFDM-MIMO  ·  mmWave 28 GHz  ·  6G Networks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7160" y="2834640"/>
            <a:ext cx="5029200" cy="1508760"/>
          </a:xfrm>
          <a:prstGeom prst="rect">
            <a:avLst/>
          </a:prstGeom>
          <a:solidFill>
            <a:srgbClr val="081D3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" y="2834640"/>
            <a:ext cx="54864" cy="15087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07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29077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Sandhya Samrath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2461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Electronics &amp; Communication Engineering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584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35844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___________________________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9227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9227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2834640"/>
            <a:ext cx="1600200" cy="292608"/>
          </a:xfrm>
          <a:prstGeom prst="rect">
            <a:avLst/>
          </a:prstGeom>
          <a:solidFill>
            <a:srgbClr val="0D336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28346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OFDM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9480" y="2834640"/>
            <a:ext cx="1600200" cy="292608"/>
          </a:xfrm>
          <a:prstGeom prst="rect">
            <a:avLst/>
          </a:prstGeom>
          <a:solidFill>
            <a:srgbClr val="0D336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8346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MIMO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3218688"/>
            <a:ext cx="1600200" cy="292608"/>
          </a:xfrm>
          <a:prstGeom prst="rect">
            <a:avLst/>
          </a:prstGeom>
          <a:solidFill>
            <a:srgbClr val="0D336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2186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CA-CFAR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69480" y="3218688"/>
            <a:ext cx="1600200" cy="292608"/>
          </a:xfrm>
          <a:prstGeom prst="rect">
            <a:avLst/>
          </a:prstGeom>
          <a:solidFill>
            <a:srgbClr val="0D336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2186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QPSK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3602736"/>
            <a:ext cx="1600200" cy="292608"/>
          </a:xfrm>
          <a:prstGeom prst="rect">
            <a:avLst/>
          </a:prstGeom>
          <a:solidFill>
            <a:srgbClr val="0D336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360273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Pareto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69480" y="3602736"/>
            <a:ext cx="1600200" cy="292608"/>
          </a:xfrm>
          <a:prstGeom prst="rect">
            <a:avLst/>
          </a:prstGeom>
          <a:solidFill>
            <a:srgbClr val="0D336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60273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CRB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3986784"/>
            <a:ext cx="1600200" cy="292608"/>
          </a:xfrm>
          <a:prstGeom prst="rect">
            <a:avLst/>
          </a:prstGeom>
          <a:solidFill>
            <a:srgbClr val="0D336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98678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mmWave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69480" y="3986784"/>
            <a:ext cx="1600200" cy="292608"/>
          </a:xfrm>
          <a:prstGeom prst="rect">
            <a:avLst/>
          </a:prstGeom>
          <a:solidFill>
            <a:srgbClr val="0D336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398678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Rayleigh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0A15"/>
          </a:solidFill>
          <a:ln w="12700">
            <a:solidFill>
              <a:srgbClr val="020A1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Major Project Defense  |  B.Tech ECE  |  IIIT Pune  |  2024–25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40D1E"/>
          </a:solidFill>
          <a:ln w="12700">
            <a:solidFill>
              <a:srgbClr val="040D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INTRODUCTION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ISAC is critical for 6G — and what this project solves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160520" cy="1005840"/>
          </a:xfrm>
          <a:prstGeom prst="rect">
            <a:avLst/>
          </a:prstGeom>
          <a:solidFill>
            <a:srgbClr val="081D3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70432"/>
            <a:ext cx="54864" cy="1005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ISAC?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8132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Sensing And Communication</a:t>
            </a:r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unified system where a single waveform simultaneously performs </a:t>
            </a:r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sensing</a:t>
            </a:r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communication</a:t>
            </a:r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shared spectrum, hardware, and signal processing.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4160520" cy="804672"/>
          </a:xfrm>
          <a:prstGeom prst="rect">
            <a:avLst/>
          </a:prstGeom>
          <a:solidFill>
            <a:srgbClr val="081D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67712"/>
            <a:ext cx="54864" cy="8046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225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Critical for 6G?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642616"/>
            <a:ext cx="164592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560320"/>
            <a:ext cx="3694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scarcity demands dual-function waveforms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898648"/>
            <a:ext cx="164592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816352"/>
            <a:ext cx="3694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targets sub-ms latency + sensing fusion for V2X, drones, smart cities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154680"/>
            <a:ext cx="164592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072384"/>
            <a:ext cx="3694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GHz mmWave offers 100 MHz+ bandwidth for both functions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170432"/>
            <a:ext cx="4206240" cy="877824"/>
          </a:xfrm>
          <a:prstGeom prst="rect">
            <a:avLst/>
          </a:prstGeom>
          <a:solidFill>
            <a:srgbClr val="081D35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170432"/>
            <a:ext cx="54864" cy="87782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2344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System Waste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1456" y="1481328"/>
            <a:ext cx="400507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deploy dedicated hardware for radar + comms separately — doubling spectrum usage, cost, and size.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176272"/>
            <a:ext cx="4206240" cy="877824"/>
          </a:xfrm>
          <a:prstGeom prst="rect">
            <a:avLst/>
          </a:prstGeom>
          <a:solidFill>
            <a:srgbClr val="081D35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176272"/>
            <a:ext cx="54864" cy="87782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224028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Congestion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91456" y="2487168"/>
            <a:ext cx="400507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mmWave bands are limited. Sharing a single OFDM waveform between sensing pilots and data subcarriers is essential.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182112"/>
            <a:ext cx="4206240" cy="877824"/>
          </a:xfrm>
          <a:prstGeom prst="rect">
            <a:avLst/>
          </a:prstGeom>
          <a:solidFill>
            <a:srgbClr val="081D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182112"/>
            <a:ext cx="54864" cy="87782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32461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Balanced Design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91456" y="3493008"/>
            <a:ext cx="400507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optimises either sensing OR communication. A joint Pareto framework for balanced ISAC design is lacking.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169664"/>
            <a:ext cx="84124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project: Design a joint OFDM-ISAC waveform for 28 GHz 6G using shared pilot/data subcarriers, MIMO beamforming, and Pareto-optimised sensing-communication balance.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40D1E"/>
          </a:solidFill>
          <a:ln w="12700">
            <a:solidFill>
              <a:srgbClr val="040D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OBJECTIVES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Literature Review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approaches considered — Joint Design selected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206240" cy="2880360"/>
          </a:xfrm>
          <a:prstGeom prst="rect">
            <a:avLst/>
          </a:prstGeom>
          <a:solidFill>
            <a:srgbClr val="081D3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70432"/>
            <a:ext cx="54864" cy="2880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1572768"/>
            <a:ext cx="237744" cy="23774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5727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" y="1554480"/>
            <a:ext cx="3666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joint OFDM waveform for 28 GHz 6G with shared pilot (sensing) and data (comm) subcarriers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1929384"/>
            <a:ext cx="237744" cy="23774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293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" y="1911096"/>
            <a:ext cx="3666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8×4 MIMO beamforming for spatial gain in both sensing and communication directions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286000"/>
            <a:ext cx="237744" cy="23774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2860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" y="2267712"/>
            <a:ext cx="3666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accurate radar ranging via Range-Doppler processing + CA-CFAR detection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2642616"/>
            <a:ext cx="237744" cy="23774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2624328"/>
            <a:ext cx="3666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communication performance: BER, EVM, SE under Rayleigh fading with MMSE equalisation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2999232"/>
            <a:ext cx="237744" cy="23774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99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944" y="2980944"/>
            <a:ext cx="3666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CRB bounds for range/velocity estimation and compare with simulated RMSE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355848"/>
            <a:ext cx="237744" cy="23774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3558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944" y="3337560"/>
            <a:ext cx="3666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α (pilot ratio) and β (power split) via Pareto surface to find practical knee-point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170432"/>
            <a:ext cx="4160520" cy="877824"/>
          </a:xfrm>
          <a:prstGeom prst="rect">
            <a:avLst/>
          </a:prstGeom>
          <a:solidFill>
            <a:srgbClr val="081D35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170432"/>
            <a:ext cx="54864" cy="87782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1188720"/>
            <a:ext cx="804672" cy="20116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118872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Approach 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28032" y="122529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Sensing-Centric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28032" y="146304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 link treated as secondary. Maximises radar SINR and range resolution. Limitation: poor BER, unsuitable for 6G data services.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157984"/>
            <a:ext cx="4160520" cy="877824"/>
          </a:xfrm>
          <a:prstGeom prst="rect">
            <a:avLst/>
          </a:prstGeom>
          <a:solidFill>
            <a:srgbClr val="081D35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157984"/>
            <a:ext cx="54864" cy="87782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2176272"/>
            <a:ext cx="804672" cy="2011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217627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Approach B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28032" y="221284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Communication-Centric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28032" y="245059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sensing treated as secondary. Good BER but degrades sensing: high RMSE, missed detections. Not viable for dual-function 6G.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145536"/>
            <a:ext cx="4160520" cy="877824"/>
          </a:xfrm>
          <a:prstGeom prst="rect">
            <a:avLst/>
          </a:prstGeom>
          <a:solidFill>
            <a:srgbClr val="081D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145536"/>
            <a:ext cx="54864" cy="87782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3163824"/>
            <a:ext cx="804672" cy="2011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0" y="316382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Approach C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28032" y="32004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Design ✓ Selected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28032" y="3438144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optimises α and β via Pareto framework. Balances sensing and comm — knee-point at α≈0.40 gives best practical tradeoff.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9160" y="4133088"/>
            <a:ext cx="4160520" cy="777240"/>
          </a:xfrm>
          <a:prstGeom prst="rect">
            <a:avLst/>
          </a:prstGeom>
          <a:solidFill>
            <a:srgbClr val="08152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28032" y="41788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 Gaps Addressed: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28032" y="43982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combines dynamic α/β optimisation + percentile CFAR + Pareto knee-point analysis in a single end-to-end 28 GHz OFDM-ISAC simulation framework.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40D1E"/>
          </a:solidFill>
          <a:ln w="12700">
            <a:solidFill>
              <a:srgbClr val="040D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Architecture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OFDM-ISAC pipeline: S1 → S8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969264" cy="1261872"/>
          </a:xfrm>
          <a:prstGeom prst="rect">
            <a:avLst/>
          </a:prstGeom>
          <a:solidFill>
            <a:srgbClr val="081D3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170432"/>
            <a:ext cx="969264" cy="2560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17043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" y="1444752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1168" y="1901952"/>
            <a:ext cx="969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fc=28GHz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BW=100MHz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SC · 128 sym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70432" y="1778508"/>
            <a:ext cx="73152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3584" y="1170432"/>
            <a:ext cx="969264" cy="1261872"/>
          </a:xfrm>
          <a:prstGeom prst="rect">
            <a:avLst/>
          </a:prstGeom>
          <a:solidFill>
            <a:srgbClr val="081D3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43584" y="1170432"/>
            <a:ext cx="969264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117043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43584" y="1444752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43584" y="1901952"/>
            <a:ext cx="969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8×4 MIMO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steering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weights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12848" y="1778508"/>
            <a:ext cx="73152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1170432"/>
            <a:ext cx="969264" cy="1261872"/>
          </a:xfrm>
          <a:prstGeom prst="rect">
            <a:avLst/>
          </a:prstGeom>
          <a:solidFill>
            <a:srgbClr val="081D35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0" y="1170432"/>
            <a:ext cx="969264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17043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1444752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OFDM-ISAC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86000" y="1901952"/>
            <a:ext cx="969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Sensing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Comm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QPSK · IFFT+CP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55264" y="1778508"/>
            <a:ext cx="73152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28416" y="1170432"/>
            <a:ext cx="969264" cy="1261872"/>
          </a:xfrm>
          <a:prstGeom prst="rect">
            <a:avLst/>
          </a:prstGeom>
          <a:solidFill>
            <a:srgbClr val="081D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28416" y="1170432"/>
            <a:ext cx="969264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28416" y="117043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28416" y="1444752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28416" y="1901952"/>
            <a:ext cx="969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Radar: echo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Comm: Rayleigh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AWGN noise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90188" y="2432304"/>
            <a:ext cx="45720" cy="3108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28416" y="2743200"/>
            <a:ext cx="969264" cy="1261872"/>
          </a:xfrm>
          <a:prstGeom prst="rect">
            <a:avLst/>
          </a:prstGeom>
          <a:solidFill>
            <a:srgbClr val="081D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28416" y="2743200"/>
            <a:ext cx="969264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274320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28416" y="3017520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28416" y="3474720"/>
            <a:ext cx="969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U(α,λ) surface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α≈0.40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optimum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55264" y="3351276"/>
            <a:ext cx="73152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2743200"/>
            <a:ext cx="969264" cy="1261872"/>
          </a:xfrm>
          <a:prstGeom prst="rect">
            <a:avLst/>
          </a:prstGeom>
          <a:solidFill>
            <a:srgbClr val="081D35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0" y="2743200"/>
            <a:ext cx="969264" cy="25603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274320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86000" y="3017520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CRB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286000" y="3474720"/>
            <a:ext cx="969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Info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Swerling models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vs SNR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12848" y="3351276"/>
            <a:ext cx="73152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43584" y="2743200"/>
            <a:ext cx="969264" cy="1261872"/>
          </a:xfrm>
          <a:prstGeom prst="rect">
            <a:avLst/>
          </a:prstGeom>
          <a:solidFill>
            <a:srgbClr val="081D35"/>
          </a:solidFill>
          <a:ln w="12700">
            <a:solidFill>
              <a:srgbClr val="26A6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243584" y="2743200"/>
            <a:ext cx="969264" cy="25603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43584" y="274320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43584" y="3017520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243584" y="3474720"/>
            <a:ext cx="969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Estimation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MMSE Equalise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· EVM · SE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170432" y="3351276"/>
            <a:ext cx="73152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1168" y="2743200"/>
            <a:ext cx="969264" cy="1261872"/>
          </a:xfrm>
          <a:prstGeom prst="rect">
            <a:avLst/>
          </a:prstGeom>
          <a:solidFill>
            <a:srgbClr val="081D35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01168" y="2743200"/>
            <a:ext cx="969264" cy="25603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168" y="274320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01168" y="3017520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01168" y="3474720"/>
            <a:ext cx="969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Range-Doppler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CA-CFAR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SINR · RMSE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74320" y="41605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Waveform  ·  Joint α/β Optimisation  ·  Dual-Path Channel  ·  MATLAB End-to-End Simulation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40D1E"/>
          </a:solidFill>
          <a:ln w="12700">
            <a:solidFill>
              <a:srgbClr val="040D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METHODOLOGY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S1–S8 module design with key equations and parameters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4206240" cy="658368"/>
          </a:xfrm>
          <a:prstGeom prst="rect">
            <a:avLst/>
          </a:prstGeom>
          <a:solidFill>
            <a:srgbClr val="081D3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70432"/>
            <a:ext cx="548640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7043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12252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Parameters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146304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fc=28GHz · BW=100MHz · Nsc=256 · Nsym=128 · Ncp=32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18304" y="1170432"/>
            <a:ext cx="4206240" cy="658368"/>
          </a:xfrm>
          <a:prstGeom prst="rect">
            <a:avLst/>
          </a:prstGeom>
          <a:solidFill>
            <a:srgbClr val="081D3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1170432"/>
            <a:ext cx="548640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17043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0096" y="12252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Beamforming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0096" y="146304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a(θ)/‖a(θ)‖  ·  Array: 8Tx × 4Rx  ·  d = λ/2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1920240"/>
            <a:ext cx="4206240" cy="658368"/>
          </a:xfrm>
          <a:prstGeom prst="rect">
            <a:avLst/>
          </a:prstGeom>
          <a:solidFill>
            <a:srgbClr val="081D35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1920240"/>
            <a:ext cx="548640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92024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19751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OFDM-ISAC Transmitter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221284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s[n] = IFFT{X}  ·  α=pilot ratio  ·  β=power split  ·  QPSK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18304" y="1920240"/>
            <a:ext cx="4206240" cy="658368"/>
          </a:xfrm>
          <a:prstGeom prst="rect">
            <a:avLst/>
          </a:prstGeom>
          <a:solidFill>
            <a:srgbClr val="081D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1920240"/>
            <a:ext cx="548640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92024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0096" y="19751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 Channel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0096" y="221284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H_radar: freq-domain echo  ·  H_comm: Rayleigh + AWGN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2670048"/>
            <a:ext cx="4206240" cy="658368"/>
          </a:xfrm>
          <a:prstGeom prst="rect">
            <a:avLst/>
          </a:prstGeom>
          <a:solidFill>
            <a:srgbClr val="081D35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670048"/>
            <a:ext cx="548640" cy="65836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67004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7824" y="272491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Receiver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" y="29626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R-D Map: IFFT×FFT  ·  CFAR: percentile threshold  ·  SINR, RMSE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18304" y="2670048"/>
            <a:ext cx="4206240" cy="658368"/>
          </a:xfrm>
          <a:prstGeom prst="rect">
            <a:avLst/>
          </a:prstGeom>
          <a:solidFill>
            <a:srgbClr val="081D35"/>
          </a:solidFill>
          <a:ln w="12700">
            <a:solidFill>
              <a:srgbClr val="26A6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18304" y="2670048"/>
            <a:ext cx="548640" cy="658368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267004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0096" y="272491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Receiver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0096" y="29626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 = Y_p/X_p (LS)  ·  MMSE EQ  ·  BER, EVM, 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3419856"/>
            <a:ext cx="4206240" cy="658368"/>
          </a:xfrm>
          <a:prstGeom prst="rect">
            <a:avLst/>
          </a:prstGeom>
          <a:solidFill>
            <a:srgbClr val="081D35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3419856"/>
            <a:ext cx="548640" cy="6583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341985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77824" y="34747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CRB + Detection Prob.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7824" y="371246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J(τ) = 8π²BW²·SNR/c²  ·  Pd vs SNR  ·  Swerling 0/I/III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18304" y="3419856"/>
            <a:ext cx="4206240" cy="658368"/>
          </a:xfrm>
          <a:prstGeom prst="rect">
            <a:avLst/>
          </a:prstGeom>
          <a:solidFill>
            <a:srgbClr val="081D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18304" y="3419856"/>
            <a:ext cx="548640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304" y="341985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S8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0096" y="34747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Optimisation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40096" y="371246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U(α,λ) = α·Qsense + (1-α)·λ·SE  ·  Knee: α*≈0.40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4160520"/>
            <a:ext cx="8631936" cy="685800"/>
          </a:xfrm>
          <a:prstGeom prst="rect">
            <a:avLst/>
          </a:prstGeom>
          <a:solidFill>
            <a:srgbClr val="0D33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416052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Operating Point:  α = 0.40  |  β = 0.75  |  SNR = 20 dB  |  M = 4 (QPSK)  |  Nt = 8  |  Nr = 4  |  fc = 28 GHz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56032" y="4498848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Knee Point  |  CRB Range = 0.411 m  |  CRB Velocity = 0.626 m/s  |  MATLAB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40D1E"/>
          </a:solidFill>
          <a:ln w="12700">
            <a:solidFill>
              <a:srgbClr val="040D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IMPLEMENTATION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Beamforming · OFDM-ISAC Transmitter · Dual-Path Channel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2788920" cy="2834640"/>
          </a:xfrm>
          <a:prstGeom prst="rect">
            <a:avLst/>
          </a:prstGeom>
          <a:solidFill>
            <a:srgbClr val="081D3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70432"/>
            <a:ext cx="278892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7043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MIMO Beamforming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5179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44752" y="15179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Tx × 4 Rx antennas, d = λ/2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1938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Vector: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44752" y="1938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a(θ) = [1, e^{j2πdsinθ/λ}, …]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23591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Weight: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44752" y="2359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a(θ) / ‖a(θ)‖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7797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 Beams: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44752" y="27797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target directions + comm beam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32004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Result: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44752" y="3200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 / +2.3 / +1.4 dB (targets)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1170432"/>
            <a:ext cx="2834640" cy="2834640"/>
          </a:xfrm>
          <a:prstGeom prst="rect">
            <a:avLst/>
          </a:prstGeom>
          <a:solidFill>
            <a:srgbClr val="081D35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170432"/>
            <a:ext cx="2834640" cy="2743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1704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30"/>
                </a:solidFill>
              </a:rPr>
              <a:t>OFDM-ISAC Transmitter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15087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Subcarrier Allocation (Nsc = 200 active):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1737360"/>
            <a:ext cx="1078992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7373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Pilot (40%)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Sensing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34840" y="1737360"/>
            <a:ext cx="1572768" cy="2743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173736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(60%)  Comm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7560" y="2084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62272" y="2084832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QPSK (M=4), 2 bits/symbol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37560" y="24688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Power: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62272" y="246888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Ppilot = Psense / Npilot_sc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37560" y="28529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Power: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62272" y="2852928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Pdata  = Pcomm / Ndata_sc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37560" y="32369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62272" y="3236976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s[n] = IFFT{X} + CP (Ncp=32)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37560" y="36210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Beamformed: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62272" y="3621024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S_tx = w · s[n]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81928" y="1170432"/>
            <a:ext cx="2606040" cy="2834640"/>
          </a:xfrm>
          <a:prstGeom prst="rect">
            <a:avLst/>
          </a:prstGeom>
          <a:solidFill>
            <a:srgbClr val="081D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81928" y="1170432"/>
            <a:ext cx="2606040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11704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Dual-Path Channel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73368" y="1517904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Path: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60336" y="1517904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Freq-domain echo: H_r[k,l] = Σ σ·e^{-j2πkΔf·τ}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73368" y="19385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 Path: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60336" y="193852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Rayleigh flat fading: h ~ CN(0,1)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73368" y="235915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60336" y="235915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AWGN: σ² = P_total/SNR_lin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73368" y="277977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Guard: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60336" y="277977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Ncp=32 samples covers echoes up to 320 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73368" y="320040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60336" y="320040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at 20 dB (SNR_lin = 100)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4114800"/>
            <a:ext cx="8631936" cy="713232"/>
          </a:xfrm>
          <a:prstGeom prst="rect">
            <a:avLst/>
          </a:prstGeom>
          <a:solidFill>
            <a:srgbClr val="0D336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1605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Parameters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3799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0.40  (pilot fraction)   |   β = 0.75  (power to comm)   |   Pcomm = 0.75 W   |   Psense = 0.25 W   |   Ptotal = 1.0 W (normalised)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40D1E"/>
          </a:solidFill>
          <a:ln w="12700">
            <a:solidFill>
              <a:srgbClr val="040D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2743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RECEIVER DESIGN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Design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Radar: Range-Doppler + CA-CFAR  ·  Comm: LS + MMSE + BER/EVM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4224528" cy="2834640"/>
          </a:xfrm>
          <a:prstGeom prst="rect">
            <a:avLst/>
          </a:prstGeom>
          <a:solidFill>
            <a:srgbClr val="081D35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70432"/>
            <a:ext cx="4224528" cy="2743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70432"/>
            <a:ext cx="4224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Radar Receiver (S5)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1545336"/>
            <a:ext cx="493776" cy="23774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545336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151790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extraction: H[k,l] = Y_pilot / S_tx_pilot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1938528"/>
            <a:ext cx="493776" cy="23774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938528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191109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 window (range+Doppler), IFFT → range resp.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331720"/>
            <a:ext cx="493776" cy="23774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331720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2304288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(Doppler) → 2D Range-Doppler map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724912"/>
            <a:ext cx="493776" cy="23774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724912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2697480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profile: max power across Doppler bins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3118104"/>
            <a:ext cx="493776" cy="23774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18104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14400" y="3090672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CA-CFAR: 40th-percentile noise est. + cluster merge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511296"/>
            <a:ext cx="493776" cy="23774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511296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4400" y="348386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detections · SINR=23.12dB · RMSE=1.479m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3822192"/>
            <a:ext cx="4041648" cy="146304"/>
          </a:xfrm>
          <a:prstGeom prst="rect">
            <a:avLst/>
          </a:prstGeom>
          <a:solidFill>
            <a:srgbClr val="0A1E3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822192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T[i] = κ · prctile(training_cells, 40) — replaces mean → eliminates sidelobe inflation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1170432"/>
            <a:ext cx="4224528" cy="2834640"/>
          </a:xfrm>
          <a:prstGeom prst="rect">
            <a:avLst/>
          </a:prstGeom>
          <a:solidFill>
            <a:srgbClr val="081D35"/>
          </a:solidFill>
          <a:ln w="12700">
            <a:solidFill>
              <a:srgbClr val="26A6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170432"/>
            <a:ext cx="4224528" cy="2743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170432"/>
            <a:ext cx="4224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Communication Receiver (S6)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1545336"/>
            <a:ext cx="493776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545336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21808" y="151790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CP → FFT → extract data+pilot subcarriers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1938528"/>
            <a:ext cx="493776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938528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21808" y="191109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Channel Est: Ĥ = Y_pilot / X_pilot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331720"/>
            <a:ext cx="493776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331720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21808" y="2304288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MMSE EQ: Ŷ = Y · conj(H) / (|H|² + σ²)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2724912"/>
            <a:ext cx="493776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724912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321808" y="2697480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QPSK demod → bit stream → BER computation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118104"/>
            <a:ext cx="493776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118104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321808" y="3090672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EVM: ‖Ŝ−S‖ / ‖S‖ × 100%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3511296"/>
            <a:ext cx="493776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511296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321808" y="348386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BER=7.18×10⁻²  EVM=90.3%  SE=3.75bps/Hz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3822192"/>
            <a:ext cx="4041648" cy="146304"/>
          </a:xfrm>
          <a:prstGeom prst="rect">
            <a:avLst/>
          </a:prstGeom>
          <a:solidFill>
            <a:srgbClr val="0A1E30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822192"/>
            <a:ext cx="4041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= Σ log₂(1 + |H[k]|² · Pdata / σ²)  per data subcarrier  →  3.75 bps/Hz at α=0.40, β=0.75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40D1E"/>
          </a:solidFill>
          <a:ln w="12700">
            <a:solidFill>
              <a:srgbClr val="040D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27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OPTIMISATION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&amp; Mathematical Results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CRB Analysis · Detection Probability · Pareto Surface · Knee 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2743200" cy="2816352"/>
          </a:xfrm>
          <a:prstGeom prst="rect">
            <a:avLst/>
          </a:prstGeom>
          <a:solidFill>
            <a:srgbClr val="081D35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70432"/>
            <a:ext cx="2743200" cy="2743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CRB Analysis (S7)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4996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CRB Range: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1709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J(τ) = 8π²·B_eff²·SNR / c²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CRB_R = 0.411 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1214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CRB Velocity: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J(v) = 8π²·f_c²·T_CPI²·SNR / c²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CRB_V = 0.626 m/s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27432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vs CRB: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953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RMSE = 1.479 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CRB bound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33649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" y="35753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radar chain operates near theoretical optimum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170432"/>
            <a:ext cx="2743200" cy="2816352"/>
          </a:xfrm>
          <a:prstGeom prst="rect">
            <a:avLst/>
          </a:prstGeom>
          <a:solidFill>
            <a:srgbClr val="081D35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170432"/>
            <a:ext cx="2743200" cy="2743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 Probability (S7)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246120" y="1463040"/>
          <a:ext cx="26517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3246120" y="3858768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SNR (dB)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144768" y="1170432"/>
            <a:ext cx="2743200" cy="2816352"/>
          </a:xfrm>
          <a:prstGeom prst="rect">
            <a:avLst/>
          </a:prstGeom>
          <a:solidFill>
            <a:srgbClr val="081D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44768" y="1170432"/>
            <a:ext cx="2743200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4768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30"/>
                </a:solidFill>
              </a:rPr>
              <a:t>Pareto Optimisation (S8)</a:t>
            </a:r>
            <a:endParaRPr lang="en-US" sz="11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6190488" y="1463040"/>
          <a:ext cx="26517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 24"/>
          <p:cNvSpPr/>
          <p:nvPr/>
        </p:nvSpPr>
        <p:spPr>
          <a:xfrm>
            <a:off x="6236208" y="33375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Function: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443216" y="33375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α·Qsense + (1-α)·λ·SE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236208" y="35570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Optimum: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443216" y="35570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α*=0.05, λ*=1.00 (comm-heavy)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236208" y="37764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Point ★: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443216" y="37764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α≈0.40 — balanced ISAC choice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256032" y="4096512"/>
            <a:ext cx="8631936" cy="731520"/>
          </a:xfrm>
          <a:prstGeom prst="rect">
            <a:avLst/>
          </a:prstGeom>
          <a:solidFill>
            <a:srgbClr val="0D336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11480" y="41696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Basis:  CRB sets theoretical bound  ·  Swerling models realistic target fluctuation  ·  Pareto utility identifies optimal operating region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40D1E"/>
          </a:solidFill>
          <a:ln w="12700">
            <a:solidFill>
              <a:srgbClr val="040D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274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Simulation Results &amp; Comparison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Point: α=0.40 · β=0.75 · SNR=20dB · 28GHz · 8×4 MIMO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1316736" cy="987552"/>
          </a:xfrm>
          <a:prstGeom prst="rect">
            <a:avLst/>
          </a:prstGeom>
          <a:solidFill>
            <a:srgbClr val="081D35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225296"/>
            <a:ext cx="1316736" cy="513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23.12 dB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" y="1743212"/>
            <a:ext cx="1316736" cy="375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SINR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09928" y="1170432"/>
            <a:ext cx="1316736" cy="987552"/>
          </a:xfrm>
          <a:prstGeom prst="rect">
            <a:avLst/>
          </a:prstGeom>
          <a:solidFill>
            <a:srgbClr val="081D3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09928" y="1225296"/>
            <a:ext cx="1316736" cy="513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1.479 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09928" y="1743212"/>
            <a:ext cx="1316736" cy="375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RMSE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63824" y="1170432"/>
            <a:ext cx="1316736" cy="987552"/>
          </a:xfrm>
          <a:prstGeom prst="rect">
            <a:avLst/>
          </a:prstGeom>
          <a:solidFill>
            <a:srgbClr val="081D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63824" y="1225296"/>
            <a:ext cx="1316736" cy="513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63824" y="1743212"/>
            <a:ext cx="1316736" cy="375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CFAR Detections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170432"/>
            <a:ext cx="1316736" cy="987552"/>
          </a:xfrm>
          <a:prstGeom prst="rect">
            <a:avLst/>
          </a:prstGeom>
          <a:solidFill>
            <a:srgbClr val="081D35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225296"/>
            <a:ext cx="1316736" cy="513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7.18×10⁻²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1743212"/>
            <a:ext cx="1316736" cy="375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(QPSK)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71616" y="1170432"/>
            <a:ext cx="1316736" cy="987552"/>
          </a:xfrm>
          <a:prstGeom prst="rect">
            <a:avLst/>
          </a:prstGeom>
          <a:solidFill>
            <a:srgbClr val="081D3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71616" y="1225296"/>
            <a:ext cx="1316736" cy="513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bps/Hz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71616" y="1743212"/>
            <a:ext cx="1316736" cy="375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Efficiency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25512" y="1170432"/>
            <a:ext cx="1316736" cy="987552"/>
          </a:xfrm>
          <a:prstGeom prst="rect">
            <a:avLst/>
          </a:prstGeom>
          <a:solidFill>
            <a:srgbClr val="081D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25512" y="1225296"/>
            <a:ext cx="1316736" cy="513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25512" y="1743212"/>
            <a:ext cx="1316736" cy="375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2249424"/>
            <a:ext cx="8631936" cy="329184"/>
          </a:xfrm>
          <a:prstGeom prst="rect">
            <a:avLst/>
          </a:prstGeom>
          <a:solidFill>
            <a:srgbClr val="0D336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249424"/>
            <a:ext cx="8631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Target Ranges:   T1 = 82 m   ·   T2 = 149 m   ·   T3 = 278 m   (True: 80, 150, 280 m)   ·   Max error &lt; 3 m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651760"/>
          <a:ext cx="8631936" cy="214884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011680"/>
                <a:gridCol w="2231136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</a:rPr>
                        <a:t>Performance 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6D00"/>
                          </a:solidFill>
                        </a:rPr>
                        <a:t>Sensing-Only System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</a:rPr>
                        <a:t>Comm-Only System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This Work (ISAC)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A4AE"/>
                          </a:solidFill>
                        </a:rPr>
                        <a:t>Radar SINR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0F7"/>
                          </a:solidFill>
                        </a:rPr>
                        <a:t>~25 dB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07D8B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23.12 dB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A4AE"/>
                          </a:solidFill>
                        </a:rPr>
                        <a:t>Range RMSE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0F7"/>
                          </a:solidFill>
                        </a:rPr>
                        <a:t>~1.2 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07D8B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1.479 m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D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A4AE"/>
                          </a:solidFill>
                        </a:rPr>
                        <a:t>BER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5350"/>
                          </a:solidFill>
                        </a:rPr>
                        <a:t>~0.45 (poor)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0F7"/>
                          </a:solidFill>
                        </a:rPr>
                        <a:t>~0.01 (ideal)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7.18e-2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A4AE"/>
                          </a:solidFill>
                        </a:rPr>
                        <a:t>SE (bps/Hz)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07D8B"/>
                          </a:solidFill>
                        </a:rPr>
                        <a:t>~1.2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0F7"/>
                          </a:solidFill>
                        </a:rPr>
                        <a:t>~5.8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3.75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D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A4AE"/>
                          </a:solidFill>
                        </a:rPr>
                        <a:t>CFAR Detections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5350"/>
                          </a:solidFill>
                        </a:rPr>
                        <a:t>~5–6 (FAs)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07D8B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3/3 exact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40D1E"/>
          </a:solidFill>
          <a:ln w="12700">
            <a:solidFill>
              <a:srgbClr val="040D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"/>
            <a:ext cx="914400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6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CONCLUSION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8412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Advantages · Limitations · Next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170432"/>
            <a:ext cx="1591056" cy="868680"/>
          </a:xfrm>
          <a:prstGeom prst="rect">
            <a:avLst/>
          </a:prstGeom>
          <a:solidFill>
            <a:srgbClr val="081D35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" y="1225296"/>
            <a:ext cx="159105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23.12 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" y="1674266"/>
            <a:ext cx="1591056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SINR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75104" y="1170432"/>
            <a:ext cx="1591056" cy="868680"/>
          </a:xfrm>
          <a:prstGeom prst="rect">
            <a:avLst/>
          </a:prstGeom>
          <a:solidFill>
            <a:srgbClr val="081D3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75104" y="1225296"/>
            <a:ext cx="159105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1.479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75104" y="1674266"/>
            <a:ext cx="1591056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RMSE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170432"/>
            <a:ext cx="1591056" cy="868680"/>
          </a:xfrm>
          <a:prstGeom prst="rect">
            <a:avLst/>
          </a:prstGeom>
          <a:solidFill>
            <a:srgbClr val="081D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1225296"/>
            <a:ext cx="159105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1674266"/>
            <a:ext cx="1591056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CFAR Det.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22976" y="1170432"/>
            <a:ext cx="1591056" cy="868680"/>
          </a:xfrm>
          <a:prstGeom prst="rect">
            <a:avLst/>
          </a:prstGeom>
          <a:solidFill>
            <a:srgbClr val="081D35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225296"/>
            <a:ext cx="159105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7.18×10⁻²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22976" y="1674266"/>
            <a:ext cx="1591056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96912" y="1170432"/>
            <a:ext cx="1591056" cy="868680"/>
          </a:xfrm>
          <a:prstGeom prst="rect">
            <a:avLst/>
          </a:prstGeom>
          <a:solidFill>
            <a:srgbClr val="081D3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96912" y="1225296"/>
            <a:ext cx="159105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96912" y="1674266"/>
            <a:ext cx="1591056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bps/Hz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" y="2130552"/>
            <a:ext cx="2816352" cy="2514600"/>
          </a:xfrm>
          <a:prstGeom prst="rect">
            <a:avLst/>
          </a:prstGeom>
          <a:solidFill>
            <a:srgbClr val="081D3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2130552"/>
            <a:ext cx="2816352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2130552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Conclusions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" y="2551176"/>
            <a:ext cx="164592" cy="1097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4688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OFDM waveform successfully performs both radar sensing and wireless communication at 28 GHz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" y="2971800"/>
            <a:ext cx="164592" cy="1097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889504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CA-CFAR with percentile thresholding achieved exact 3/3 target detection, eliminating false alarms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" y="3392424"/>
            <a:ext cx="164592" cy="1097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310128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improved 7× from initial 0.50 to 7.18×10⁻² via QPSK + normalised MMSE equalisation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2608" y="3813048"/>
            <a:ext cx="164592" cy="1097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73075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knee-point at α=0.40 provides the best practical sensing-communication balance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2608" y="4233672"/>
            <a:ext cx="164592" cy="1097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151376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simulation validated CRB bounds, detection curves, and Pareto trade-off surface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82112" y="2130552"/>
            <a:ext cx="2816352" cy="2514600"/>
          </a:xfrm>
          <a:prstGeom prst="rect">
            <a:avLst/>
          </a:prstGeom>
          <a:solidFill>
            <a:srgbClr val="081D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82112" y="2130552"/>
            <a:ext cx="2816352" cy="2743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82112" y="2130552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30"/>
                </a:solidFill>
              </a:rPr>
              <a:t>Advantages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73552" y="2551176"/>
            <a:ext cx="164592" cy="1097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11296" y="24688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hardware for dual function — reduces cost and size for 6G base stations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73552" y="2971800"/>
            <a:ext cx="164592" cy="1097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11296" y="2889504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α/β tuning allows real-time adaptation to sensing vs. comm priority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73552" y="3392424"/>
            <a:ext cx="164592" cy="1097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11296" y="3310128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Percentile-CFAR robust against sidelobe contamination in dense target environments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73552" y="3813048"/>
            <a:ext cx="164592" cy="1097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11296" y="373075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knee-point design criterion is practical and mathematically justified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63056" y="2130552"/>
            <a:ext cx="2816352" cy="2514600"/>
          </a:xfrm>
          <a:prstGeom prst="rect">
            <a:avLst/>
          </a:prstGeom>
          <a:solidFill>
            <a:srgbClr val="081D35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63056" y="2130552"/>
            <a:ext cx="2816352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3056" y="2130552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Limitations &amp; Future Scope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54496" y="2551176"/>
            <a:ext cx="164592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24688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(7.18×10⁻²) still above ideal AWGN — needs pilot-aided adaptive channel tracking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54496" y="2971800"/>
            <a:ext cx="164592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2889504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multi-user ISAC with simultaneous sensing of multiple communication UEs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54496" y="3392424"/>
            <a:ext cx="164592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3310128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machine learning-based adaptive CFAR thresholding for varying clutter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54496" y="3813048"/>
            <a:ext cx="164592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373075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Hardware-in-loop validation on USRP/SDR testbed at 28 GHz mmWave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54496" y="4233672"/>
            <a:ext cx="164592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4151376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IRS-assisted ISAC to extend sensing range and communication coverage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0A15"/>
          </a:solidFill>
          <a:ln w="12700">
            <a:solidFill>
              <a:srgbClr val="020A1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  ·  Open for Questions  ·  Sandhya Samrath · B.Tech ECE · IIIT Pune · 2024–25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Joint ISAC Waveform Design for 6G Networks</dc:title>
  <dc:subject>PptxGenJS Presentation</dc:subject>
  <dc:creator>Sandhya Samrath</dc:creator>
  <cp:lastModifiedBy>Sandhya Samrath</cp:lastModifiedBy>
  <cp:revision>1</cp:revision>
  <dcterms:created xsi:type="dcterms:W3CDTF">2026-04-28T23:13:39Z</dcterms:created>
  <dcterms:modified xsi:type="dcterms:W3CDTF">2026-04-28T23:13:39Z</dcterms:modified>
</cp:coreProperties>
</file>